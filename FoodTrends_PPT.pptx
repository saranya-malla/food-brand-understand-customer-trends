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grandir" charset="1" panose="00000500000000000000"/>
      <p:regular r:id="rId16"/>
    </p:embeddedFont>
    <p:embeddedFont>
      <p:font typeface="Agrandir Bold" charset="1" panose="000008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Relationship Id="rId4" Target="../media/image3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gif" Type="http://schemas.openxmlformats.org/officeDocument/2006/relationships/image"/><Relationship Id="rId3" Target="../media/image7.gif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gif" Type="http://schemas.openxmlformats.org/officeDocument/2006/relationships/image"/><Relationship Id="rId3" Target="../media/image8.gif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gif" Type="http://schemas.openxmlformats.org/officeDocument/2006/relationships/image"/><Relationship Id="rId3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gif" Type="http://schemas.openxmlformats.org/officeDocument/2006/relationships/image"/><Relationship Id="rId3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gif" Type="http://schemas.openxmlformats.org/officeDocument/2006/relationships/image"/><Relationship Id="rId3" Target="../media/image8.gif" Type="http://schemas.openxmlformats.org/officeDocument/2006/relationships/image"/><Relationship Id="rId4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gif" Type="http://schemas.openxmlformats.org/officeDocument/2006/relationships/image"/><Relationship Id="rId3" Target="../media/image8.gif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gif" Type="http://schemas.openxmlformats.org/officeDocument/2006/relationships/image"/><Relationship Id="rId3" Target="../media/image8.gif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gif" Type="http://schemas.openxmlformats.org/officeDocument/2006/relationships/image"/><Relationship Id="rId3" Target="../media/image1.gif" Type="http://schemas.openxmlformats.org/officeDocument/2006/relationships/image"/><Relationship Id="rId4" Target="../media/image13.gif" Type="http://schemas.openxmlformats.org/officeDocument/2006/relationships/image"/><Relationship Id="rId5" Target="../media/image14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25000"/>
          </a:blip>
          <a:srcRect l="0" t="0" r="0" b="0"/>
          <a:stretch>
            <a:fillRect/>
          </a:stretch>
        </p:blipFill>
        <p:spPr>
          <a:xfrm flipH="false" flipV="false" rot="-10800000">
            <a:off x="6333452" y="-1797179"/>
            <a:ext cx="15735219" cy="13881357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3000871" y="1889583"/>
            <a:ext cx="15081654" cy="6820565"/>
            <a:chOff x="0" y="0"/>
            <a:chExt cx="20108872" cy="909408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190500"/>
              <a:ext cx="16381678" cy="77766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999"/>
                </a:lnSpc>
              </a:pPr>
              <a:r>
                <a:rPr lang="en-US" sz="99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FoodTrends: Understanding Customer Preferences in-FB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15318766" y="8332246"/>
              <a:ext cx="4790106" cy="7618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206"/>
                </a:lnSpc>
                <a:spcBef>
                  <a:spcPct val="0"/>
                </a:spcBef>
              </a:pPr>
              <a:r>
                <a:rPr lang="en-US" sz="3004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     ~Malla Saranya</a:t>
              </a:r>
            </a:p>
          </p:txBody>
        </p:sp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alphaModFix amt="50000"/>
          </a:blip>
          <a:srcRect l="0" t="0" r="0" b="0"/>
          <a:stretch>
            <a:fillRect/>
          </a:stretch>
        </p:blipFill>
        <p:spPr>
          <a:xfrm flipH="false" flipV="false" rot="0">
            <a:off x="-2318726" y="-376453"/>
            <a:ext cx="9743013" cy="1709948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alphaModFix amt="25000"/>
          </a:blip>
          <a:srcRect l="0" t="0" r="0" b="0"/>
          <a:stretch>
            <a:fillRect/>
          </a:stretch>
        </p:blipFill>
        <p:spPr>
          <a:xfrm flipH="false" flipV="false" rot="-7199120">
            <a:off x="-2896988" y="-1002021"/>
            <a:ext cx="5793977" cy="58954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4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30842" y="4140119"/>
            <a:ext cx="6780460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  <a:spcBef>
                <a:spcPct val="0"/>
              </a:spcBef>
            </a:pPr>
            <a:r>
              <a:rPr lang="en-US" sz="6999" u="none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Agenda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411302" y="1028310"/>
            <a:ext cx="6907145" cy="868440"/>
            <a:chOff x="0" y="0"/>
            <a:chExt cx="9209527" cy="11579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24235" cy="1157920"/>
            </a:xfrm>
            <a:custGeom>
              <a:avLst/>
              <a:gdLst/>
              <a:ahLst/>
              <a:cxnLst/>
              <a:rect r="r" b="b" t="t" l="l"/>
              <a:pathLst>
                <a:path h="1157920" w="1124235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1634311" y="147159"/>
              <a:ext cx="7575216" cy="7302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Pr</a:t>
              </a:r>
              <a:r>
                <a:rPr lang="en-US" sz="29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oject Overview &amp; Objectives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351305" y="370892"/>
              <a:ext cx="421625" cy="3494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0"/>
                </a:lnSpc>
              </a:pPr>
              <a:r>
                <a:rPr lang="en-US" b="true" sz="1400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411302" y="2192025"/>
            <a:ext cx="6907145" cy="868440"/>
            <a:chOff x="0" y="0"/>
            <a:chExt cx="9209527" cy="115792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1634311" y="147159"/>
              <a:ext cx="7575216" cy="7302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Data S</a:t>
              </a:r>
              <a:r>
                <a:rPr lang="en-US" sz="29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ources &amp; Methodology</a:t>
              </a:r>
            </a:p>
          </p:txBody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24235" cy="1157920"/>
            </a:xfrm>
            <a:custGeom>
              <a:avLst/>
              <a:gdLst/>
              <a:ahLst/>
              <a:cxnLst/>
              <a:rect r="r" b="b" t="t" l="l"/>
              <a:pathLst>
                <a:path h="1157920" w="1124235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351305" y="370892"/>
              <a:ext cx="421625" cy="3494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0"/>
                </a:lnSpc>
              </a:pPr>
              <a:r>
                <a:rPr lang="en-US" b="true" sz="1400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411302" y="3355740"/>
            <a:ext cx="6907145" cy="868440"/>
            <a:chOff x="0" y="0"/>
            <a:chExt cx="9209527" cy="115792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1634311" y="147159"/>
              <a:ext cx="7575216" cy="7302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Executive Dashb</a:t>
              </a:r>
              <a:r>
                <a:rPr lang="en-US" sz="29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oard Overview</a:t>
              </a:r>
            </a:p>
          </p:txBody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24235" cy="1157920"/>
            </a:xfrm>
            <a:custGeom>
              <a:avLst/>
              <a:gdLst/>
              <a:ahLst/>
              <a:cxnLst/>
              <a:rect r="r" b="b" t="t" l="l"/>
              <a:pathLst>
                <a:path h="1157920" w="1124235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351305" y="370892"/>
              <a:ext cx="421625" cy="3494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0"/>
                </a:lnSpc>
              </a:pPr>
              <a:r>
                <a:rPr lang="en-US" b="true" sz="1400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3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411302" y="4519454"/>
            <a:ext cx="6907145" cy="868440"/>
            <a:chOff x="0" y="0"/>
            <a:chExt cx="9209527" cy="115792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1634311" y="147159"/>
              <a:ext cx="7575216" cy="7302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Product &amp; Prefe</a:t>
              </a:r>
              <a:r>
                <a:rPr lang="en-US" sz="29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rence Insights</a:t>
              </a:r>
            </a:p>
          </p:txBody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24235" cy="1157920"/>
            </a:xfrm>
            <a:custGeom>
              <a:avLst/>
              <a:gdLst/>
              <a:ahLst/>
              <a:cxnLst/>
              <a:rect r="r" b="b" t="t" l="l"/>
              <a:pathLst>
                <a:path h="1157920" w="1124235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351305" y="370892"/>
              <a:ext cx="421625" cy="3494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0"/>
                </a:lnSpc>
              </a:pPr>
              <a:r>
                <a:rPr lang="en-US" b="true" sz="1400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4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411302" y="5631614"/>
            <a:ext cx="7298501" cy="971551"/>
            <a:chOff x="0" y="0"/>
            <a:chExt cx="9731334" cy="1295401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1634311" y="-133350"/>
              <a:ext cx="8097023" cy="14287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Cust</a:t>
              </a:r>
              <a:r>
                <a:rPr lang="en-US" sz="29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omer Segmentation &amp; Sentiment Intelligence</a:t>
              </a:r>
            </a:p>
          </p:txBody>
        </p:sp>
        <p:sp>
          <p:nvSpPr>
            <p:cNvPr name="Freeform 21" id="21"/>
            <p:cNvSpPr/>
            <p:nvPr/>
          </p:nvSpPr>
          <p:spPr>
            <a:xfrm flipH="false" flipV="false" rot="0">
              <a:off x="0" y="68741"/>
              <a:ext cx="1124235" cy="1157920"/>
            </a:xfrm>
            <a:custGeom>
              <a:avLst/>
              <a:gdLst/>
              <a:ahLst/>
              <a:cxnLst/>
              <a:rect r="r" b="b" t="t" l="l"/>
              <a:pathLst>
                <a:path h="1157920" w="1124235">
                  <a:moveTo>
                    <a:pt x="0" y="0"/>
                  </a:moveTo>
                  <a:lnTo>
                    <a:pt x="1124235" y="0"/>
                  </a:lnTo>
                  <a:lnTo>
                    <a:pt x="1124235" y="1157919"/>
                  </a:lnTo>
                  <a:lnTo>
                    <a:pt x="0" y="1157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351305" y="439632"/>
              <a:ext cx="421625" cy="3494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0"/>
                </a:lnSpc>
              </a:pPr>
              <a:r>
                <a:rPr lang="en-US" b="true" sz="1400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5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411302" y="6846884"/>
            <a:ext cx="7186685" cy="868440"/>
            <a:chOff x="0" y="0"/>
            <a:chExt cx="9582246" cy="1157920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1634311" y="147159"/>
              <a:ext cx="7947935" cy="7302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Key Insights</a:t>
              </a:r>
              <a:r>
                <a:rPr lang="en-US" sz="29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 &amp; Recommendations</a:t>
              </a:r>
            </a:p>
          </p:txBody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24235" cy="1157920"/>
            </a:xfrm>
            <a:custGeom>
              <a:avLst/>
              <a:gdLst/>
              <a:ahLst/>
              <a:cxnLst/>
              <a:rect r="r" b="b" t="t" l="l"/>
              <a:pathLst>
                <a:path h="1157920" w="1124235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 rot="0">
              <a:off x="351305" y="370892"/>
              <a:ext cx="421625" cy="3494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0"/>
                </a:lnSpc>
              </a:pPr>
              <a:r>
                <a:rPr lang="en-US" b="true" sz="1400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6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411302" y="8010599"/>
            <a:ext cx="7214639" cy="868440"/>
            <a:chOff x="0" y="0"/>
            <a:chExt cx="9619518" cy="1157920"/>
          </a:xfrm>
        </p:grpSpPr>
        <p:sp>
          <p:nvSpPr>
            <p:cNvPr name="TextBox 28" id="28"/>
            <p:cNvSpPr txBox="true"/>
            <p:nvPr/>
          </p:nvSpPr>
          <p:spPr>
            <a:xfrm rot="0">
              <a:off x="1634311" y="147159"/>
              <a:ext cx="7985207" cy="7302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Conclusi</a:t>
              </a:r>
              <a:r>
                <a:rPr lang="en-US" sz="29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on</a:t>
              </a:r>
            </a:p>
          </p:txBody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24235" cy="1157920"/>
            </a:xfrm>
            <a:custGeom>
              <a:avLst/>
              <a:gdLst/>
              <a:ahLst/>
              <a:cxnLst/>
              <a:rect r="r" b="b" t="t" l="l"/>
              <a:pathLst>
                <a:path h="1157920" w="1124235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 rot="0">
              <a:off x="351305" y="370892"/>
              <a:ext cx="421625" cy="3494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0"/>
                </a:lnSpc>
              </a:pPr>
              <a:r>
                <a:rPr lang="en-US" b="true" sz="1400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7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25000"/>
          </a:blip>
          <a:srcRect l="0" t="0" r="0" b="0"/>
          <a:stretch>
            <a:fillRect/>
          </a:stretch>
        </p:blipFill>
        <p:spPr>
          <a:xfrm flipH="false" flipV="false" rot="3203220">
            <a:off x="10055853" y="-265970"/>
            <a:ext cx="11814494" cy="12461864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5000"/>
          </a:blip>
          <a:srcRect l="0" t="0" r="0" b="0"/>
          <a:stretch>
            <a:fillRect/>
          </a:stretch>
        </p:blipFill>
        <p:spPr>
          <a:xfrm flipH="false" flipV="false" rot="-5741405">
            <a:off x="8316155" y="8504485"/>
            <a:ext cx="4865516" cy="616878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 rot="0">
            <a:off x="637345" y="468257"/>
            <a:ext cx="14754286" cy="7931444"/>
            <a:chOff x="0" y="0"/>
            <a:chExt cx="19672381" cy="1057525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2135139" y="-190500"/>
              <a:ext cx="17537242" cy="1600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sz="69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P</a:t>
              </a:r>
              <a:r>
                <a:rPr lang="en-US" sz="6999" u="none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roject Overview  &amp; Objectives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408319"/>
              <a:ext cx="13716069" cy="81669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844"/>
                </a:lnSpc>
              </a:pPr>
              <a:r>
                <a:rPr lang="en-US" sz="346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Project Ove</a:t>
              </a:r>
              <a:r>
                <a:rPr lang="en-US" sz="3460" u="none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rview</a:t>
              </a:r>
            </a:p>
            <a:p>
              <a:pPr algn="l" marL="747045" indent="-373522" lvl="1">
                <a:lnSpc>
                  <a:spcPts val="4844"/>
                </a:lnSpc>
                <a:buFont typeface="Arial"/>
                <a:buChar char="•"/>
              </a:pPr>
              <a:r>
                <a:rPr lang="en-US" sz="3460" u="none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Integration of Survey &amp; Facebook Data</a:t>
              </a:r>
            </a:p>
            <a:p>
              <a:pPr algn="l" marL="747045" indent="-373522" lvl="1">
                <a:lnSpc>
                  <a:spcPts val="4844"/>
                </a:lnSpc>
                <a:buFont typeface="Arial"/>
                <a:buChar char="•"/>
              </a:pPr>
              <a:r>
                <a:rPr lang="en-US" sz="3460" u="none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Sentiment Analysis &amp; Preference Study</a:t>
              </a:r>
            </a:p>
            <a:p>
              <a:pPr algn="l" marL="747045" indent="-373522" lvl="1">
                <a:lnSpc>
                  <a:spcPts val="4844"/>
                </a:lnSpc>
                <a:buFont typeface="Arial"/>
                <a:buChar char="•"/>
              </a:pPr>
              <a:r>
                <a:rPr lang="en-US" sz="3460" u="none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Interactive Power BI Dashboard</a:t>
              </a:r>
            </a:p>
            <a:p>
              <a:pPr algn="l" marL="0" indent="0" lvl="0">
                <a:lnSpc>
                  <a:spcPts val="4844"/>
                </a:lnSpc>
              </a:pPr>
              <a:r>
                <a:rPr lang="en-US" sz="3460" u="none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Objectives</a:t>
              </a:r>
            </a:p>
            <a:p>
              <a:pPr algn="l" marL="747045" indent="-373522" lvl="1">
                <a:lnSpc>
                  <a:spcPts val="4844"/>
                </a:lnSpc>
                <a:buFont typeface="Arial"/>
                <a:buChar char="•"/>
              </a:pPr>
              <a:r>
                <a:rPr lang="en-US" sz="3460" u="none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Analyze customer preferences</a:t>
              </a:r>
            </a:p>
            <a:p>
              <a:pPr algn="l" marL="747045" indent="-373522" lvl="1">
                <a:lnSpc>
                  <a:spcPts val="4844"/>
                </a:lnSpc>
                <a:buFont typeface="Arial"/>
                <a:buChar char="•"/>
              </a:pPr>
              <a:r>
                <a:rPr lang="en-US" sz="3460" u="none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Evaluate brand-wise sentiment</a:t>
              </a:r>
            </a:p>
            <a:p>
              <a:pPr algn="l" marL="747045" indent="-373522" lvl="1">
                <a:lnSpc>
                  <a:spcPts val="4844"/>
                </a:lnSpc>
                <a:buFont typeface="Arial"/>
                <a:buChar char="•"/>
              </a:pPr>
              <a:r>
                <a:rPr lang="en-US" sz="3460" u="none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Identify demographic trends</a:t>
              </a:r>
            </a:p>
            <a:p>
              <a:pPr algn="l" marL="747045" indent="-373522" lvl="1">
                <a:lnSpc>
                  <a:spcPts val="4844"/>
                </a:lnSpc>
                <a:buFont typeface="Arial"/>
                <a:buChar char="•"/>
              </a:pPr>
              <a:r>
                <a:rPr lang="en-US" sz="3460" u="none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Deliver business insights</a:t>
              </a:r>
            </a:p>
            <a:p>
              <a:pPr algn="l" marL="0" indent="0" lvl="0">
                <a:lnSpc>
                  <a:spcPts val="4844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51291" y="309562"/>
            <a:ext cx="9398198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  <a:spcBef>
                <a:spcPct val="0"/>
              </a:spcBef>
            </a:pPr>
            <a:r>
              <a:rPr lang="en-US" sz="69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D</a:t>
            </a:r>
            <a:r>
              <a:rPr lang="en-US" sz="6999" u="none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ata Sources &amp; Tools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-4810715" y="2950641"/>
            <a:ext cx="9621431" cy="9789932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alphaModFix amt="50000"/>
          </a:blip>
          <a:srcRect l="0" t="0" r="0" b="0"/>
          <a:stretch>
            <a:fillRect/>
          </a:stretch>
        </p:blipFill>
        <p:spPr>
          <a:xfrm flipH="false" flipV="false" rot="9720163">
            <a:off x="12600387" y="-3298660"/>
            <a:ext cx="8670039" cy="8654721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028700" y="2102430"/>
            <a:ext cx="12640857" cy="534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1"/>
              </a:lnSpc>
              <a:spcBef>
                <a:spcPct val="0"/>
              </a:spcBef>
            </a:pPr>
            <a:r>
              <a:rPr lang="en-US" sz="345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D</a:t>
            </a:r>
            <a:r>
              <a:rPr lang="en-US" sz="3459" u="none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ata Sources</a:t>
            </a:r>
          </a:p>
          <a:p>
            <a:pPr algn="l" marL="747013" indent="-373507" lvl="1">
              <a:lnSpc>
                <a:spcPts val="4151"/>
              </a:lnSpc>
              <a:buFont typeface="Arial"/>
              <a:buChar char="•"/>
            </a:pPr>
            <a:r>
              <a:rPr lang="en-US" sz="3459" u="none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Structured Survey Data (3,559 responses)</a:t>
            </a:r>
          </a:p>
          <a:p>
            <a:pPr algn="l" marL="747013" indent="-373507" lvl="1">
              <a:lnSpc>
                <a:spcPts val="4151"/>
              </a:lnSpc>
              <a:spcBef>
                <a:spcPct val="0"/>
              </a:spcBef>
              <a:buFont typeface="Arial"/>
              <a:buChar char="•"/>
            </a:pPr>
            <a:r>
              <a:rPr lang="en-US" sz="3459" u="none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Facebook Posts &amp; Engagement Data (73K+ records)</a:t>
            </a:r>
          </a:p>
          <a:p>
            <a:pPr algn="l" marL="747013" indent="-373507" lvl="1">
              <a:lnSpc>
                <a:spcPts val="4151"/>
              </a:lnSpc>
              <a:spcBef>
                <a:spcPct val="0"/>
              </a:spcBef>
              <a:buFont typeface="Arial"/>
              <a:buChar char="•"/>
            </a:pPr>
            <a:r>
              <a:rPr lang="en-US" sz="3459" u="none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Sentiment Score &amp; Label Extraction</a:t>
            </a:r>
          </a:p>
          <a:p>
            <a:pPr algn="l">
              <a:lnSpc>
                <a:spcPts val="4151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4151"/>
              </a:lnSpc>
              <a:spcBef>
                <a:spcPct val="0"/>
              </a:spcBef>
            </a:pPr>
            <a:r>
              <a:rPr lang="en-US" sz="3459" u="none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Tools Used</a:t>
            </a:r>
          </a:p>
          <a:p>
            <a:pPr algn="l" marL="747013" indent="-373507" lvl="1">
              <a:lnSpc>
                <a:spcPts val="4151"/>
              </a:lnSpc>
              <a:buFont typeface="Arial"/>
              <a:buChar char="•"/>
            </a:pPr>
            <a:r>
              <a:rPr lang="en-US" sz="3459" u="none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Microsoft Excel (Data Cleaning)</a:t>
            </a:r>
          </a:p>
          <a:p>
            <a:pPr algn="l" marL="747013" indent="-373507" lvl="1">
              <a:lnSpc>
                <a:spcPts val="4151"/>
              </a:lnSpc>
              <a:spcBef>
                <a:spcPct val="0"/>
              </a:spcBef>
              <a:buFont typeface="Arial"/>
              <a:buChar char="•"/>
            </a:pPr>
            <a:r>
              <a:rPr lang="en-US" sz="3459" u="none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Power BI (Dashboard &amp; Modeling)</a:t>
            </a:r>
          </a:p>
          <a:p>
            <a:pPr algn="l" marL="747013" indent="-373507" lvl="1">
              <a:lnSpc>
                <a:spcPts val="4151"/>
              </a:lnSpc>
              <a:spcBef>
                <a:spcPct val="0"/>
              </a:spcBef>
              <a:buFont typeface="Arial"/>
              <a:buChar char="•"/>
            </a:pPr>
            <a:r>
              <a:rPr lang="en-US" sz="3459" u="none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DAX (Calculations &amp; KPIs)</a:t>
            </a:r>
          </a:p>
          <a:p>
            <a:pPr algn="ctr" marL="0" indent="0" lvl="0">
              <a:lnSpc>
                <a:spcPts val="415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53723" y="309562"/>
            <a:ext cx="13647199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  <a:spcBef>
                <a:spcPct val="0"/>
              </a:spcBef>
            </a:pPr>
            <a:r>
              <a:rPr lang="en-US" sz="69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Executive Ov</a:t>
            </a:r>
            <a:r>
              <a:rPr lang="en-US" sz="6999" u="none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erview Dashboard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alphaModFix amt="50000"/>
          </a:blip>
          <a:srcRect l="0" t="0" r="0" b="0"/>
          <a:stretch>
            <a:fillRect/>
          </a:stretch>
        </p:blipFill>
        <p:spPr>
          <a:xfrm flipH="false" flipV="false" rot="9720163">
            <a:off x="12600387" y="-3298660"/>
            <a:ext cx="8670039" cy="8654721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0">
            <a:off x="208438" y="2117895"/>
            <a:ext cx="11779118" cy="6580650"/>
          </a:xfrm>
          <a:custGeom>
            <a:avLst/>
            <a:gdLst/>
            <a:ahLst/>
            <a:cxnLst/>
            <a:rect r="r" b="b" t="t" l="l"/>
            <a:pathLst>
              <a:path h="6580650" w="11779118">
                <a:moveTo>
                  <a:pt x="0" y="0"/>
                </a:moveTo>
                <a:lnTo>
                  <a:pt x="11779118" y="0"/>
                </a:lnTo>
                <a:lnTo>
                  <a:pt x="11779118" y="6580650"/>
                </a:lnTo>
                <a:lnTo>
                  <a:pt x="0" y="65806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014826" y="3450436"/>
            <a:ext cx="6273174" cy="451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875" indent="-392938" lvl="1">
              <a:lnSpc>
                <a:spcPts val="4367"/>
              </a:lnSpc>
              <a:buFont typeface="Arial"/>
              <a:buChar char="•"/>
            </a:pPr>
            <a:r>
              <a:rPr lang="en-US" sz="363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3,559</a:t>
            </a:r>
            <a:r>
              <a:rPr lang="en-US" sz="363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 Survey </a:t>
            </a:r>
          </a:p>
          <a:p>
            <a:pPr algn="l">
              <a:lnSpc>
                <a:spcPts val="4367"/>
              </a:lnSpc>
            </a:pPr>
            <a:r>
              <a:rPr lang="en-US" sz="363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       </a:t>
            </a:r>
            <a:r>
              <a:rPr lang="en-US" sz="3639" u="none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Responses</a:t>
            </a:r>
          </a:p>
          <a:p>
            <a:pPr algn="l" marL="785875" indent="-392938" lvl="1">
              <a:lnSpc>
                <a:spcPts val="4367"/>
              </a:lnSpc>
              <a:buFont typeface="Arial"/>
              <a:buChar char="•"/>
            </a:pPr>
            <a:r>
              <a:rPr lang="en-US" sz="3639" u="none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73K+</a:t>
            </a:r>
            <a:r>
              <a:rPr lang="en-US" sz="363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 Facebook </a:t>
            </a:r>
            <a:r>
              <a:rPr lang="en-US" sz="3639" u="none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Posts </a:t>
            </a:r>
          </a:p>
          <a:p>
            <a:pPr algn="l">
              <a:lnSpc>
                <a:spcPts val="4367"/>
              </a:lnSpc>
            </a:pPr>
            <a:r>
              <a:rPr lang="en-US" sz="3639" u="none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      An</a:t>
            </a:r>
            <a:r>
              <a:rPr lang="en-US" sz="363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al</a:t>
            </a:r>
            <a:r>
              <a:rPr lang="en-US" sz="3639" u="none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yz</a:t>
            </a:r>
            <a:r>
              <a:rPr lang="en-US" sz="363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e</a:t>
            </a:r>
            <a:r>
              <a:rPr lang="en-US" sz="3639" u="none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d</a:t>
            </a:r>
          </a:p>
          <a:p>
            <a:pPr algn="l" marL="785875" indent="-392938" lvl="1">
              <a:lnSpc>
                <a:spcPts val="4367"/>
              </a:lnSpc>
              <a:buFont typeface="Arial"/>
              <a:buChar char="•"/>
            </a:pPr>
            <a:r>
              <a:rPr lang="en-US" sz="3639" u="none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402M Tota</a:t>
            </a:r>
            <a:r>
              <a:rPr lang="en-US" sz="363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l</a:t>
            </a:r>
            <a:r>
              <a:rPr lang="en-US" sz="3639" u="none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 Eng</a:t>
            </a:r>
            <a:r>
              <a:rPr lang="en-US" sz="363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a</a:t>
            </a:r>
            <a:r>
              <a:rPr lang="en-US" sz="3639" u="none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gemen</a:t>
            </a:r>
            <a:r>
              <a:rPr lang="en-US" sz="363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t</a:t>
            </a:r>
          </a:p>
          <a:p>
            <a:pPr algn="l" marL="785875" indent="-392938" lvl="1">
              <a:lnSpc>
                <a:spcPts val="4367"/>
              </a:lnSpc>
              <a:buFont typeface="Arial"/>
              <a:buChar char="•"/>
            </a:pPr>
            <a:r>
              <a:rPr lang="en-US" sz="3639" u="none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48% P</a:t>
            </a:r>
            <a:r>
              <a:rPr lang="en-US" sz="363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osi</a:t>
            </a:r>
            <a:r>
              <a:rPr lang="en-US" sz="3639" u="none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tive</a:t>
            </a:r>
            <a:r>
              <a:rPr lang="en-US" sz="363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 </a:t>
            </a:r>
            <a:r>
              <a:rPr lang="en-US" sz="3639" u="none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Sent</a:t>
            </a:r>
            <a:r>
              <a:rPr lang="en-US" sz="363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i</a:t>
            </a:r>
            <a:r>
              <a:rPr lang="en-US" sz="3639" u="none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me</a:t>
            </a:r>
            <a:r>
              <a:rPr lang="en-US" sz="363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n</a:t>
            </a:r>
            <a:r>
              <a:rPr lang="en-US" sz="3639" u="none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t</a:t>
            </a:r>
          </a:p>
          <a:p>
            <a:pPr algn="l" marL="785875" indent="-392938" lvl="1">
              <a:lnSpc>
                <a:spcPts val="4367"/>
              </a:lnSpc>
              <a:buFont typeface="Arial"/>
              <a:buChar char="•"/>
            </a:pPr>
            <a:r>
              <a:rPr lang="en-US" sz="3639" u="none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Se</a:t>
            </a:r>
            <a:r>
              <a:rPr lang="en-US" sz="363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a</a:t>
            </a:r>
            <a:r>
              <a:rPr lang="en-US" sz="3639" u="none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so</a:t>
            </a:r>
            <a:r>
              <a:rPr lang="en-US" sz="363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n</a:t>
            </a:r>
            <a:r>
              <a:rPr lang="en-US" sz="3639" u="none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al E</a:t>
            </a:r>
            <a:r>
              <a:rPr lang="en-US" sz="363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nga</a:t>
            </a:r>
            <a:r>
              <a:rPr lang="en-US" sz="3639" u="none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gemen</a:t>
            </a:r>
            <a:r>
              <a:rPr lang="en-US" sz="363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t</a:t>
            </a:r>
            <a:r>
              <a:rPr lang="en-US" sz="3639" u="none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 </a:t>
            </a:r>
          </a:p>
          <a:p>
            <a:pPr algn="l">
              <a:lnSpc>
                <a:spcPts val="4367"/>
              </a:lnSpc>
            </a:pPr>
            <a:r>
              <a:rPr lang="en-US" sz="3639" u="none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      P</a:t>
            </a:r>
            <a:r>
              <a:rPr lang="en-US" sz="363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e</a:t>
            </a:r>
            <a:r>
              <a:rPr lang="en-US" sz="3639" u="none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aks</a:t>
            </a:r>
            <a:r>
              <a:rPr lang="en-US" sz="363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 </a:t>
            </a:r>
            <a:r>
              <a:rPr lang="en-US" sz="3639" u="none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Id</a:t>
            </a:r>
            <a:r>
              <a:rPr lang="en-US" sz="363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ent</a:t>
            </a:r>
            <a:r>
              <a:rPr lang="en-US" sz="3639" u="none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ifi</a:t>
            </a:r>
            <a:r>
              <a:rPr lang="en-US" sz="363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ed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89352" y="309562"/>
            <a:ext cx="12915952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  <a:spcBef>
                <a:spcPct val="0"/>
              </a:spcBef>
            </a:pPr>
            <a:r>
              <a:rPr lang="en-US" sz="69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Pro</a:t>
            </a:r>
            <a:r>
              <a:rPr lang="en-US" sz="6999" u="none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duct &amp; Preference Insights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alphaModFix amt="50000"/>
          </a:blip>
          <a:srcRect l="0" t="0" r="0" b="0"/>
          <a:stretch>
            <a:fillRect/>
          </a:stretch>
        </p:blipFill>
        <p:spPr>
          <a:xfrm flipH="false" flipV="false" rot="9720163">
            <a:off x="12600387" y="-3298660"/>
            <a:ext cx="8670039" cy="8654721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0">
            <a:off x="650752" y="2180162"/>
            <a:ext cx="11301259" cy="6328705"/>
          </a:xfrm>
          <a:custGeom>
            <a:avLst/>
            <a:gdLst/>
            <a:ahLst/>
            <a:cxnLst/>
            <a:rect r="r" b="b" t="t" l="l"/>
            <a:pathLst>
              <a:path h="6328705" w="11301259">
                <a:moveTo>
                  <a:pt x="0" y="0"/>
                </a:moveTo>
                <a:lnTo>
                  <a:pt x="11301259" y="0"/>
                </a:lnTo>
                <a:lnTo>
                  <a:pt x="11301259" y="6328705"/>
                </a:lnTo>
                <a:lnTo>
                  <a:pt x="0" y="63287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104644" y="2676117"/>
            <a:ext cx="5394127" cy="581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875" indent="-392938" lvl="1">
              <a:lnSpc>
                <a:spcPts val="5095"/>
              </a:lnSpc>
              <a:buFont typeface="Arial"/>
              <a:buChar char="•"/>
            </a:pPr>
            <a:r>
              <a:rPr lang="en-US" sz="363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Mondelez &amp; Amul – </a:t>
            </a:r>
          </a:p>
          <a:p>
            <a:pPr algn="l">
              <a:lnSpc>
                <a:spcPts val="5095"/>
              </a:lnSpc>
            </a:pPr>
            <a:r>
              <a:rPr lang="en-US" sz="363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      Most Preferred </a:t>
            </a:r>
          </a:p>
          <a:p>
            <a:pPr algn="l">
              <a:lnSpc>
                <a:spcPts val="5095"/>
              </a:lnSpc>
            </a:pPr>
            <a:r>
              <a:rPr lang="en-US" sz="363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      </a:t>
            </a:r>
            <a:r>
              <a:rPr lang="en-US" sz="363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Brands</a:t>
            </a:r>
          </a:p>
          <a:p>
            <a:pPr algn="l" marL="785875" indent="-392938" lvl="1">
              <a:lnSpc>
                <a:spcPts val="5095"/>
              </a:lnSpc>
              <a:buFont typeface="Arial"/>
              <a:buChar char="•"/>
            </a:pPr>
            <a:r>
              <a:rPr lang="en-US" sz="363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Mixed Food Type </a:t>
            </a:r>
          </a:p>
          <a:p>
            <a:pPr algn="l">
              <a:lnSpc>
                <a:spcPts val="5095"/>
              </a:lnSpc>
            </a:pPr>
            <a:r>
              <a:rPr lang="en-US" sz="363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      Dominates</a:t>
            </a:r>
          </a:p>
          <a:p>
            <a:pPr algn="l" marL="785875" indent="-392938" lvl="1">
              <a:lnSpc>
                <a:spcPts val="5095"/>
              </a:lnSpc>
              <a:buFont typeface="Arial"/>
              <a:buChar char="•"/>
            </a:pPr>
            <a:r>
              <a:rPr lang="en-US" sz="363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Dine-In &amp; Online – </a:t>
            </a:r>
          </a:p>
          <a:p>
            <a:pPr algn="l">
              <a:lnSpc>
                <a:spcPts val="5095"/>
              </a:lnSpc>
            </a:pPr>
            <a:r>
              <a:rPr lang="en-US" sz="363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      Primary Channels</a:t>
            </a:r>
          </a:p>
          <a:p>
            <a:pPr algn="l" marL="785875" indent="-392938" lvl="1">
              <a:lnSpc>
                <a:spcPts val="5095"/>
              </a:lnSpc>
              <a:buFont typeface="Arial"/>
              <a:buChar char="•"/>
            </a:pPr>
            <a:r>
              <a:rPr lang="en-US" sz="363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Strong Correlation: </a:t>
            </a:r>
          </a:p>
          <a:p>
            <a:pPr algn="l">
              <a:lnSpc>
                <a:spcPts val="5095"/>
              </a:lnSpc>
            </a:pPr>
            <a:r>
              <a:rPr lang="en-US" sz="363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      Quality → Satisfaction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3625" y="-6166"/>
            <a:ext cx="18060750" cy="230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  <a:spcBef>
                <a:spcPct val="0"/>
              </a:spcBef>
            </a:pPr>
            <a:r>
              <a:rPr lang="en-US" sz="69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Cu</a:t>
            </a:r>
            <a:r>
              <a:rPr lang="en-US" sz="6999" u="none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stomer Segmentation &amp; Sentiment Intelligence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-4810715" y="2950641"/>
            <a:ext cx="9621431" cy="9789932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alphaModFix amt="50000"/>
          </a:blip>
          <a:srcRect l="0" t="0" r="0" b="0"/>
          <a:stretch>
            <a:fillRect/>
          </a:stretch>
        </p:blipFill>
        <p:spPr>
          <a:xfrm flipH="false" flipV="false" rot="9720163">
            <a:off x="12600387" y="-3298660"/>
            <a:ext cx="8670039" cy="8654721"/>
          </a:xfrm>
          <a:prstGeom prst="rect">
            <a:avLst/>
          </a:prstGeom>
        </p:spPr>
      </p:pic>
      <p:sp>
        <p:nvSpPr>
          <p:cNvPr name="Freeform 5" id="5"/>
          <p:cNvSpPr/>
          <p:nvPr/>
        </p:nvSpPr>
        <p:spPr>
          <a:xfrm flipH="false" flipV="false" rot="0">
            <a:off x="368857" y="2696819"/>
            <a:ext cx="11776389" cy="6561481"/>
          </a:xfrm>
          <a:custGeom>
            <a:avLst/>
            <a:gdLst/>
            <a:ahLst/>
            <a:cxnLst/>
            <a:rect r="r" b="b" t="t" l="l"/>
            <a:pathLst>
              <a:path h="6561481" w="11776389">
                <a:moveTo>
                  <a:pt x="0" y="0"/>
                </a:moveTo>
                <a:lnTo>
                  <a:pt x="11776389" y="0"/>
                </a:lnTo>
                <a:lnTo>
                  <a:pt x="11776389" y="6561481"/>
                </a:lnTo>
                <a:lnTo>
                  <a:pt x="0" y="65614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780341" y="3943350"/>
            <a:ext cx="5338167" cy="506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875" indent="-392938" lvl="1">
              <a:lnSpc>
                <a:spcPts val="4367"/>
              </a:lnSpc>
              <a:buFont typeface="Arial"/>
              <a:buChar char="•"/>
            </a:pPr>
            <a:r>
              <a:rPr lang="en-US" sz="363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Majority Customers: </a:t>
            </a:r>
          </a:p>
          <a:p>
            <a:pPr algn="l">
              <a:lnSpc>
                <a:spcPts val="4367"/>
              </a:lnSpc>
            </a:pPr>
            <a:r>
              <a:rPr lang="en-US" sz="363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      Age 20–25</a:t>
            </a:r>
          </a:p>
          <a:p>
            <a:pPr algn="l" marL="785875" indent="-392938" lvl="1">
              <a:lnSpc>
                <a:spcPts val="4367"/>
              </a:lnSpc>
              <a:buFont typeface="Arial"/>
              <a:buChar char="•"/>
            </a:pPr>
            <a:r>
              <a:rPr lang="en-US" sz="363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Brand Preference </a:t>
            </a:r>
          </a:p>
          <a:p>
            <a:pPr algn="l">
              <a:lnSpc>
                <a:spcPts val="4367"/>
              </a:lnSpc>
            </a:pPr>
            <a:r>
              <a:rPr lang="en-US" sz="363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      Varies by Gender</a:t>
            </a:r>
          </a:p>
          <a:p>
            <a:pPr algn="l" marL="785875" indent="-392938" lvl="1">
              <a:lnSpc>
                <a:spcPts val="4367"/>
              </a:lnSpc>
              <a:buFont typeface="Arial"/>
              <a:buChar char="•"/>
            </a:pPr>
            <a:r>
              <a:rPr lang="en-US" sz="363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Positive Sentiment </a:t>
            </a:r>
          </a:p>
          <a:p>
            <a:pPr algn="l">
              <a:lnSpc>
                <a:spcPts val="4367"/>
              </a:lnSpc>
            </a:pPr>
            <a:r>
              <a:rPr lang="en-US" sz="363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      Dominates Leading </a:t>
            </a:r>
          </a:p>
          <a:p>
            <a:pPr algn="l">
              <a:lnSpc>
                <a:spcPts val="4367"/>
              </a:lnSpc>
            </a:pPr>
            <a:r>
              <a:rPr lang="en-US" sz="363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      </a:t>
            </a:r>
            <a:r>
              <a:rPr lang="en-US" sz="363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Brands</a:t>
            </a:r>
          </a:p>
          <a:p>
            <a:pPr algn="l" marL="785875" indent="-392938" lvl="1">
              <a:lnSpc>
                <a:spcPts val="4367"/>
              </a:lnSpc>
              <a:buFont typeface="Arial"/>
              <a:buChar char="•"/>
            </a:pPr>
            <a:r>
              <a:rPr lang="en-US" sz="363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Hyderabad – </a:t>
            </a:r>
          </a:p>
          <a:p>
            <a:pPr algn="l">
              <a:lnSpc>
                <a:spcPts val="4367"/>
              </a:lnSpc>
            </a:pPr>
            <a:r>
              <a:rPr lang="en-US" sz="363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      Highest Participation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03525" y="81734"/>
            <a:ext cx="11879170" cy="230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  <a:spcBef>
                <a:spcPct val="0"/>
              </a:spcBef>
            </a:pPr>
            <a:r>
              <a:rPr lang="en-US" sz="69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Key Fin</a:t>
            </a:r>
            <a:r>
              <a:rPr lang="en-US" sz="6999" u="none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dings &amp; Business Recommendations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-4810715" y="2950641"/>
            <a:ext cx="9621431" cy="9789932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alphaModFix amt="50000"/>
          </a:blip>
          <a:srcRect l="0" t="0" r="0" b="0"/>
          <a:stretch>
            <a:fillRect/>
          </a:stretch>
        </p:blipFill>
        <p:spPr>
          <a:xfrm flipH="false" flipV="false" rot="9720163">
            <a:off x="12600387" y="-3298660"/>
            <a:ext cx="8670039" cy="8654721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658348" y="2855391"/>
            <a:ext cx="12175182" cy="561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7"/>
              </a:lnSpc>
              <a:spcBef>
                <a:spcPct val="0"/>
              </a:spcBef>
            </a:pPr>
            <a:r>
              <a:rPr lang="en-US" sz="363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Key Findings</a:t>
            </a:r>
          </a:p>
          <a:p>
            <a:pPr algn="l" marL="785875" indent="-392938" lvl="1">
              <a:lnSpc>
                <a:spcPts val="4367"/>
              </a:lnSpc>
              <a:buFont typeface="Arial"/>
              <a:buChar char="•"/>
            </a:pPr>
            <a:r>
              <a:rPr lang="en-US" sz="363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Young Adults (20–25) Form Core Customer Segment</a:t>
            </a:r>
          </a:p>
          <a:p>
            <a:pPr algn="l" marL="785875" indent="-392938" lvl="1">
              <a:lnSpc>
                <a:spcPts val="4367"/>
              </a:lnSpc>
              <a:buFont typeface="Arial"/>
              <a:buChar char="•"/>
            </a:pPr>
            <a:r>
              <a:rPr lang="en-US" sz="363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Positive Sentiment Drives Brand Engagement</a:t>
            </a:r>
          </a:p>
          <a:p>
            <a:pPr algn="l" marL="785875" indent="-392938" lvl="1">
              <a:lnSpc>
                <a:spcPts val="4367"/>
              </a:lnSpc>
              <a:buFont typeface="Arial"/>
              <a:buChar char="•"/>
            </a:pPr>
            <a:r>
              <a:rPr lang="en-US" sz="363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Quality Perception Influences Satisfaction</a:t>
            </a:r>
          </a:p>
          <a:p>
            <a:pPr algn="l" marL="785875" indent="-392938" lvl="1">
              <a:lnSpc>
                <a:spcPts val="4367"/>
              </a:lnSpc>
              <a:buFont typeface="Arial"/>
              <a:buChar char="•"/>
            </a:pPr>
            <a:r>
              <a:rPr lang="en-US" sz="363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Urban Cities Show Higher Participation</a:t>
            </a:r>
          </a:p>
          <a:p>
            <a:pPr algn="l">
              <a:lnSpc>
                <a:spcPts val="4367"/>
              </a:lnSpc>
              <a:spcBef>
                <a:spcPct val="0"/>
              </a:spcBef>
            </a:pPr>
            <a:r>
              <a:rPr lang="en-US" sz="363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Recommendations</a:t>
            </a:r>
          </a:p>
          <a:p>
            <a:pPr algn="l" marL="785875" indent="-392938" lvl="1">
              <a:lnSpc>
                <a:spcPts val="4367"/>
              </a:lnSpc>
              <a:buFont typeface="Arial"/>
              <a:buChar char="•"/>
            </a:pPr>
            <a:r>
              <a:rPr lang="en-US" sz="363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Target Youth-Focused Marketing Campaigns</a:t>
            </a:r>
          </a:p>
          <a:p>
            <a:pPr algn="l" marL="785875" indent="-392938" lvl="1">
              <a:lnSpc>
                <a:spcPts val="4367"/>
              </a:lnSpc>
              <a:buFont typeface="Arial"/>
              <a:buChar char="•"/>
            </a:pPr>
            <a:r>
              <a:rPr lang="en-US" sz="363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Strengthen Sentiment Monitoring for Brands</a:t>
            </a:r>
          </a:p>
          <a:p>
            <a:pPr algn="l" marL="785875" indent="-392938" lvl="1">
              <a:lnSpc>
                <a:spcPts val="4367"/>
              </a:lnSpc>
              <a:buFont typeface="Arial"/>
              <a:buChar char="•"/>
            </a:pPr>
            <a:r>
              <a:rPr lang="en-US" sz="363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Improve Quality Communication Strategies</a:t>
            </a:r>
          </a:p>
          <a:p>
            <a:pPr algn="l" marL="785875" indent="-392938" lvl="1">
              <a:lnSpc>
                <a:spcPts val="4367"/>
              </a:lnSpc>
              <a:buFont typeface="Arial"/>
              <a:buChar char="•"/>
            </a:pPr>
            <a:r>
              <a:rPr lang="en-US" sz="363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Focus Campaigns on High-Engagement Cities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42729" y="309562"/>
            <a:ext cx="9398198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  <a:spcBef>
                <a:spcPct val="0"/>
              </a:spcBef>
            </a:pPr>
            <a:r>
              <a:rPr lang="en-US" sz="69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Con</a:t>
            </a:r>
            <a:r>
              <a:rPr lang="en-US" sz="6999" u="none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clusion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-4810715" y="2950641"/>
            <a:ext cx="9621431" cy="9789932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alphaModFix amt="50000"/>
          </a:blip>
          <a:srcRect l="0" t="0" r="0" b="0"/>
          <a:stretch>
            <a:fillRect/>
          </a:stretch>
        </p:blipFill>
        <p:spPr>
          <a:xfrm flipH="false" flipV="false" rot="9720163">
            <a:off x="12600387" y="-3298660"/>
            <a:ext cx="8670039" cy="8654721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295792" y="2331015"/>
            <a:ext cx="12312700" cy="2514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Integrated Structured &amp; Unstructured Analytics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Interactive Insight-Driven Dashboard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Data-Backed Business Recommendations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Supports Strategic Decision Making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-1662681" y="-6438340"/>
            <a:ext cx="13761077" cy="1415359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11511932" y="6947324"/>
            <a:ext cx="8674222" cy="765225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15141061" y="2810706"/>
            <a:ext cx="6293877" cy="5612932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alphaModFix amt="25000"/>
          </a:blip>
          <a:srcRect l="0" t="0" r="0" b="0"/>
          <a:stretch>
            <a:fillRect/>
          </a:stretch>
        </p:blipFill>
        <p:spPr>
          <a:xfrm flipH="false" flipV="false" rot="-3435299">
            <a:off x="-3167656" y="638455"/>
            <a:ext cx="6335313" cy="7076795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4357584" y="3307015"/>
            <a:ext cx="8465475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  <a:spcBef>
                <a:spcPct val="0"/>
              </a:spcBef>
            </a:pPr>
            <a:r>
              <a:rPr lang="en-US" sz="6999" u="none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DAHCgOJKt8Y</dc:identifier>
  <dcterms:modified xsi:type="dcterms:W3CDTF">2011-08-01T06:04:30Z</dcterms:modified>
  <cp:revision>1</cp:revision>
  <dc:title>FoodTrends: Understanding Customer Preferences in-FB</dc:title>
</cp:coreProperties>
</file>